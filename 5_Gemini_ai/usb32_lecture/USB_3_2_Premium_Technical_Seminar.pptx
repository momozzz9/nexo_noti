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000">
                <a:solidFill>
                  <a:srgbClr val="F8FAFC"/>
                </a:solidFill>
                <a:latin typeface="맑은 고딕"/>
              </a:defRPr>
            </a:pPr>
            <a:r>
              <a:t>USB 3.2 Specification</a:t>
            </a:r>
          </a:p>
          <a:p>
            <a:r>
              <a:t>Revision 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4A3B8"/>
                </a:solidFill>
                <a:latin typeface="맑은 고딕"/>
              </a:defRPr>
            </a:pPr>
            <a:r>
              <a:t>Samsung Electronics HW Development Seminar</a:t>
            </a:r>
          </a:p>
          <a:p>
            <a:r>
              <a:t>Advanced High-Speed Interface Deep Dive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91440" cy="73152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8FAFC"/>
                </a:solidFill>
                <a:latin typeface="맑은 고딕"/>
              </a:defRPr>
            </a:pPr>
            <a:r>
              <a:t>Architecture &amp; 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8FAFC"/>
                </a:solidFill>
                <a:latin typeface="맑은 고딕"/>
              </a:defRPr>
            </a:pPr>
            <a:r>
              <a:t>• USB 3.0/3.1을 USB 3.2 규격으로 통합 관리</a:t>
            </a:r>
          </a:p>
          <a:p>
            <a:pPr>
              <a:spcAft>
                <a:spcPts val="1200"/>
              </a:spcAft>
              <a:defRPr sz="2000">
                <a:solidFill>
                  <a:srgbClr val="F8FAFC"/>
                </a:solidFill>
                <a:latin typeface="맑은 고딕"/>
              </a:defRPr>
            </a:pPr>
            <a:r>
              <a:t>• Gen 1x2(10Gbps), Gen 2x2(20Gbps) 등 Multi-lane 기술 공식화</a:t>
            </a:r>
          </a:p>
          <a:p>
            <a:pPr>
              <a:spcAft>
                <a:spcPts val="1200"/>
              </a:spcAft>
              <a:defRPr sz="2000">
                <a:solidFill>
                  <a:srgbClr val="F8FAFC"/>
                </a:solidFill>
                <a:latin typeface="맑은 고딕"/>
              </a:defRPr>
            </a:pPr>
            <a:r>
              <a:t>• 기존 PHY 기술 자산을 유지하며 대역폭 2배 확보 전략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011680"/>
            <a:ext cx="3657600" cy="4114800"/>
          </a:xfrm>
          <a:prstGeom prst="roundRect">
            <a:avLst/>
          </a:prstGeom>
          <a:solidFill>
            <a:srgbClr val="191E2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182880" rIns="182880"/>
          <a:lstStyle/>
          <a:p>
            <a:pPr algn="ctr"/>
          </a:p>
          <a:p>
            <a:pPr>
              <a:spcAft>
                <a:spcPts val="1000"/>
              </a:spcAft>
              <a:defRPr b="1" sz="1200">
                <a:solidFill>
                  <a:srgbClr val="10B981"/>
                </a:solidFill>
              </a:defRPr>
            </a:pPr>
            <a:r>
              <a:t>TECHNICAL DEEP DIVE</a:t>
            </a:r>
          </a:p>
          <a:p>
            <a:pPr>
              <a:defRPr sz="1400">
                <a:solidFill>
                  <a:srgbClr val="F8FAFC"/>
                </a:solidFill>
                <a:latin typeface="맑은 고딕"/>
              </a:defRPr>
            </a:pPr>
            <a:r>
              <a:t>USB 3.2 Rev 1.1은 기존 SuperSpeed(5G) 및 SuperSpeed+(10G) 설계를 기반으로 하며, Type-C의 가용 고속 라인을 병렬화하여 구현 시간을 단축함.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Samsung Electronics HW Engineering Team | USB 3.2 Rev 1.1 Technical Seminar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91440" cy="73152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8FAFC"/>
                </a:solidFill>
                <a:latin typeface="맑은 고딕"/>
              </a:defRPr>
            </a:pPr>
            <a:r>
              <a:t>Multi-Lane Architecture (x2)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8FAFC"/>
                </a:solidFill>
                <a:latin typeface="맑은 고딕"/>
              </a:defRPr>
            </a:pPr>
            <a:r>
              <a:t>• Type-C 커넥터의 TX1/RX1, TX2/RX2 차동 쌍 동시 활용</a:t>
            </a:r>
          </a:p>
          <a:p>
            <a:pPr>
              <a:spcAft>
                <a:spcPts val="1200"/>
              </a:spcAft>
              <a:defRPr sz="2000">
                <a:solidFill>
                  <a:srgbClr val="F8FAFC"/>
                </a:solidFill>
                <a:latin typeface="맑은 고딕"/>
              </a:defRPr>
            </a:pPr>
            <a:r>
              <a:t>• Lane Bonding: 바이트 단위 Data Striping 및 분산 전송</a:t>
            </a:r>
          </a:p>
          <a:p>
            <a:pPr>
              <a:spcAft>
                <a:spcPts val="1200"/>
              </a:spcAft>
              <a:defRPr sz="2000">
                <a:solidFill>
                  <a:srgbClr val="F8FAFC"/>
                </a:solidFill>
                <a:latin typeface="맑은 고딕"/>
              </a:defRPr>
            </a:pPr>
            <a:r>
              <a:t>• 수신단에서의 심볼 얼라이먼트(Symbol Alignment) 기술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011680"/>
            <a:ext cx="3657600" cy="4114800"/>
          </a:xfrm>
          <a:prstGeom prst="roundRect">
            <a:avLst/>
          </a:prstGeom>
          <a:solidFill>
            <a:srgbClr val="191E2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182880" rIns="182880"/>
          <a:lstStyle/>
          <a:p>
            <a:pPr algn="ctr"/>
          </a:p>
          <a:p>
            <a:pPr>
              <a:spcAft>
                <a:spcPts val="1000"/>
              </a:spcAft>
              <a:defRPr b="1" sz="1200">
                <a:solidFill>
                  <a:srgbClr val="10B981"/>
                </a:solidFill>
              </a:defRPr>
            </a:pPr>
            <a:r>
              <a:t>TECHNICAL DEEP DIVE</a:t>
            </a:r>
          </a:p>
          <a:p>
            <a:pPr>
              <a:defRPr sz="1400">
                <a:solidFill>
                  <a:srgbClr val="F8FAFC"/>
                </a:solidFill>
                <a:latin typeface="맑은 고딕"/>
              </a:defRPr>
            </a:pPr>
            <a:r>
              <a:t>Lane 0과 Lane 1로 나뉘어 전송되는 데이터는 수신단의 LTSSM 제어를 통해 완벽히 동기화되어야 하며, 이를 위해 전용 트레이닝 시퀀스가 사용됨.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Samsung Electronics HW Engineering Team | USB 3.2 Rev 1.1 Technical Seminar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91440" cy="73152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8FAFC"/>
                </a:solidFill>
                <a:latin typeface="맑은 고딕"/>
              </a:defRPr>
            </a:pPr>
            <a:r>
              <a:t>128b/132b Encoding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8FAFC"/>
                </a:solidFill>
                <a:latin typeface="맑은 고딕"/>
              </a:defRPr>
            </a:pPr>
            <a:r>
              <a:t>• Gen 2 규격 이상에서 적용되는 97% 고효율 인코딩</a:t>
            </a:r>
          </a:p>
          <a:p>
            <a:pPr>
              <a:spcAft>
                <a:spcPts val="1200"/>
              </a:spcAft>
              <a:defRPr sz="2000">
                <a:solidFill>
                  <a:srgbClr val="F8FAFC"/>
                </a:solidFill>
                <a:latin typeface="맑은 고딕"/>
              </a:defRPr>
            </a:pPr>
            <a:r>
              <a:t>• 4-bit Sync Header를 통한 프레임 경계 및 클럭 복구</a:t>
            </a:r>
          </a:p>
          <a:p>
            <a:pPr>
              <a:spcAft>
                <a:spcPts val="1200"/>
              </a:spcAft>
              <a:defRPr sz="2000">
                <a:solidFill>
                  <a:srgbClr val="F8FAFC"/>
                </a:solidFill>
                <a:latin typeface="맑은 고딕"/>
              </a:defRPr>
            </a:pPr>
            <a:r>
              <a:t>• EMI 최소화를 위한 Scrambling LFSR 알고리즘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011680"/>
            <a:ext cx="3657600" cy="4114800"/>
          </a:xfrm>
          <a:prstGeom prst="roundRect">
            <a:avLst/>
          </a:prstGeom>
          <a:solidFill>
            <a:srgbClr val="191E2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182880" rIns="182880"/>
          <a:lstStyle/>
          <a:p>
            <a:pPr algn="ctr"/>
          </a:p>
          <a:p>
            <a:pPr>
              <a:spcAft>
                <a:spcPts val="1000"/>
              </a:spcAft>
              <a:defRPr b="1" sz="1200">
                <a:solidFill>
                  <a:srgbClr val="10B981"/>
                </a:solidFill>
              </a:defRPr>
            </a:pPr>
            <a:r>
              <a:t>TECHNICAL DEEP DIVE</a:t>
            </a:r>
          </a:p>
          <a:p>
            <a:pPr>
              <a:defRPr sz="1400">
                <a:solidFill>
                  <a:srgbClr val="F8FAFC"/>
                </a:solidFill>
                <a:latin typeface="맑은 고딕"/>
              </a:defRPr>
            </a:pPr>
            <a:r>
              <a:t>Sync Header (1010b=Data, 1100b=Control)는 8b/10b 인코딩의 20% 오버헤드를 3% 수준으로 획기적으로 개선하여 실효 전송률을 높임.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Samsung Electronics HW Engineering Team | USB 3.2 Rev 1.1 Technical Seminar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91440" cy="73152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8FAFC"/>
                </a:solidFill>
                <a:latin typeface="맑은 고딕"/>
              </a:defRPr>
            </a:pPr>
            <a:r>
              <a:t>Type-C CC Interface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8FAFC"/>
                </a:solidFill>
                <a:latin typeface="맑은 고딕"/>
              </a:defRPr>
            </a:pPr>
            <a:r>
              <a:t>• Rd/Rp 전압 감지를 통한 삽입 및 방향(Flip) 판단</a:t>
            </a:r>
          </a:p>
          <a:p>
            <a:pPr>
              <a:spcAft>
                <a:spcPts val="1200"/>
              </a:spcAft>
              <a:defRPr sz="2000">
                <a:solidFill>
                  <a:srgbClr val="F8FAFC"/>
                </a:solidFill>
                <a:latin typeface="맑은 고딕"/>
              </a:defRPr>
            </a:pPr>
            <a:r>
              <a:t>• E-marker 케이블 식별 및 VCONN 전원 공급 자동화</a:t>
            </a:r>
          </a:p>
          <a:p>
            <a:pPr>
              <a:spcAft>
                <a:spcPts val="1200"/>
              </a:spcAft>
              <a:defRPr sz="2000">
                <a:solidFill>
                  <a:srgbClr val="F8FAFC"/>
                </a:solidFill>
                <a:latin typeface="맑은 고딕"/>
              </a:defRPr>
            </a:pPr>
            <a:r>
              <a:t>• PD VDM 메시지를 통한 x2 Multi-lane 진입 협상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011680"/>
            <a:ext cx="3657600" cy="4114800"/>
          </a:xfrm>
          <a:prstGeom prst="roundRect">
            <a:avLst/>
          </a:prstGeom>
          <a:solidFill>
            <a:srgbClr val="191E2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182880" rIns="182880"/>
          <a:lstStyle/>
          <a:p>
            <a:pPr algn="ctr"/>
          </a:p>
          <a:p>
            <a:pPr>
              <a:spcAft>
                <a:spcPts val="1000"/>
              </a:spcAft>
              <a:defRPr b="1" sz="1200">
                <a:solidFill>
                  <a:srgbClr val="10B981"/>
                </a:solidFill>
              </a:defRPr>
            </a:pPr>
            <a:r>
              <a:t>TECHNICAL DEEP DIVE</a:t>
            </a:r>
          </a:p>
          <a:p>
            <a:pPr>
              <a:defRPr sz="1400">
                <a:solidFill>
                  <a:srgbClr val="F8FAFC"/>
                </a:solidFill>
                <a:latin typeface="맑은 고딕"/>
              </a:defRPr>
            </a:pPr>
            <a:r>
              <a:t>고속 통신 중 PD 메시지 간섭을 방지하기 위해 CC 라인의 SI(Signal Integrity) 확보가 필수적이며, 특히 기생 커패시턴스 관리가 중요함.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Samsung Electronics HW Engineering Team | USB 3.2 Rev 1.1 Technical Seminar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91440" cy="73152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8FAFC"/>
                </a:solidFill>
                <a:latin typeface="맑은 고딕"/>
              </a:defRPr>
            </a:pPr>
            <a:r>
              <a:t>Lane-to-Lane De-skew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8FAFC"/>
                </a:solidFill>
                <a:latin typeface="맑은 고딕"/>
              </a:defRPr>
            </a:pPr>
            <a:r>
              <a:t>• 최대 허용 Skew: 6,400 ps (6.4ns) 규격 준수 필수</a:t>
            </a:r>
          </a:p>
          <a:p>
            <a:pPr>
              <a:spcAft>
                <a:spcPts val="1200"/>
              </a:spcAft>
              <a:defRPr sz="2000">
                <a:solidFill>
                  <a:srgbClr val="F8FAFC"/>
                </a:solidFill>
                <a:latin typeface="맑은 고딕"/>
              </a:defRPr>
            </a:pPr>
            <a:r>
              <a:t>• PHY 내부 Elastic Buffer를 이용한 동적 시간차 보정</a:t>
            </a:r>
          </a:p>
          <a:p>
            <a:pPr>
              <a:spcAft>
                <a:spcPts val="1200"/>
              </a:spcAft>
              <a:defRPr sz="2000">
                <a:solidFill>
                  <a:srgbClr val="F8FAFC"/>
                </a:solidFill>
                <a:latin typeface="맑은 고딕"/>
              </a:defRPr>
            </a:pPr>
            <a:r>
              <a:t>• PCB 패턴 및 케이블 지연 차이에 대한 마진 확보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011680"/>
            <a:ext cx="3657600" cy="4114800"/>
          </a:xfrm>
          <a:prstGeom prst="roundRect">
            <a:avLst/>
          </a:prstGeom>
          <a:solidFill>
            <a:srgbClr val="191E2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182880" rIns="182880"/>
          <a:lstStyle/>
          <a:p>
            <a:pPr algn="ctr"/>
          </a:p>
          <a:p>
            <a:pPr>
              <a:spcAft>
                <a:spcPts val="1000"/>
              </a:spcAft>
              <a:defRPr b="1" sz="1200">
                <a:solidFill>
                  <a:srgbClr val="10B981"/>
                </a:solidFill>
              </a:defRPr>
            </a:pPr>
            <a:r>
              <a:t>TECHNICAL DEEP DIVE</a:t>
            </a:r>
          </a:p>
          <a:p>
            <a:pPr>
              <a:defRPr sz="1400">
                <a:solidFill>
                  <a:srgbClr val="F8FAFC"/>
                </a:solidFill>
                <a:latin typeface="맑은 고딕"/>
              </a:defRPr>
            </a:pPr>
            <a:r>
              <a:t>삼성 HW 설계 가이드: Lane 간 Length Matching 편차를 0.25mm 이내로 유지하고, 고주파 손실이 적은 Low-loss PCB 소재 선정을 권장함.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Samsung Electronics HW Engineering Team | USB 3.2 Rev 1.1 Technical Seminar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91440" cy="73152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8FAFC"/>
                </a:solidFill>
                <a:latin typeface="맑은 고딕"/>
              </a:defRPr>
            </a:pPr>
            <a:r>
              <a:t>LTSSM Link Training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8FAFC"/>
                </a:solidFill>
                <a:latin typeface="맑은 고딕"/>
              </a:defRPr>
            </a:pPr>
            <a:r>
              <a:t>• Polling.Active: 비트 및 심볼 락 획득 과정</a:t>
            </a:r>
          </a:p>
          <a:p>
            <a:pPr>
              <a:spcAft>
                <a:spcPts val="1200"/>
              </a:spcAft>
              <a:defRPr sz="2000">
                <a:solidFill>
                  <a:srgbClr val="F8FAFC"/>
                </a:solidFill>
                <a:latin typeface="맑은 고딕"/>
              </a:defRPr>
            </a:pPr>
            <a:r>
              <a:t>• Polling.Configuration: Lane 수 및 속도 최종 협상</a:t>
            </a:r>
          </a:p>
          <a:p>
            <a:pPr>
              <a:spcAft>
                <a:spcPts val="1200"/>
              </a:spcAft>
              <a:defRPr sz="2000">
                <a:solidFill>
                  <a:srgbClr val="F8FAFC"/>
                </a:solidFill>
                <a:latin typeface="맑은 고딕"/>
              </a:defRPr>
            </a:pPr>
            <a:r>
              <a:t>• Rx.EQ: 전송 채널 특성 보정을 위한 3단계 등화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011680"/>
            <a:ext cx="3657600" cy="4114800"/>
          </a:xfrm>
          <a:prstGeom prst="roundRect">
            <a:avLst/>
          </a:prstGeom>
          <a:solidFill>
            <a:srgbClr val="191E2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182880" rIns="182880"/>
          <a:lstStyle/>
          <a:p>
            <a:pPr algn="ctr"/>
          </a:p>
          <a:p>
            <a:pPr>
              <a:spcAft>
                <a:spcPts val="1000"/>
              </a:spcAft>
              <a:defRPr b="1" sz="1200">
                <a:solidFill>
                  <a:srgbClr val="10B981"/>
                </a:solidFill>
              </a:defRPr>
            </a:pPr>
            <a:r>
              <a:t>TECHNICAL DEEP DIVE</a:t>
            </a:r>
          </a:p>
          <a:p>
            <a:pPr>
              <a:defRPr sz="1400">
                <a:solidFill>
                  <a:srgbClr val="F8FAFC"/>
                </a:solidFill>
                <a:latin typeface="맑은 고딕"/>
              </a:defRPr>
            </a:pPr>
            <a:r>
              <a:t>Recovery 상태는 링크 불안정 시 자동으로 진입하며, 재훈련 실패 시 하위 속도로의 Fallback을 통해 연결 안정성을 최우선으로 보장함.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Samsung Electronics HW Engineering Team | USB 3.2 Rev 1.1 Technical Seminar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91440" cy="73152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8FAFC"/>
                </a:solidFill>
                <a:latin typeface="맑은 고딕"/>
              </a:defRPr>
            </a:pPr>
            <a:r>
              <a:t>Power Management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8FAFC"/>
                </a:solidFill>
                <a:latin typeface="맑은 고딕"/>
              </a:defRPr>
            </a:pPr>
            <a:r>
              <a:t>• U1/U2: 전력 절감과 빠른 복구(Latency)의 균형</a:t>
            </a:r>
          </a:p>
          <a:p>
            <a:pPr>
              <a:spcAft>
                <a:spcPts val="1200"/>
              </a:spcAft>
              <a:defRPr sz="2000">
                <a:solidFill>
                  <a:srgbClr val="F8FAFC"/>
                </a:solidFill>
                <a:latin typeface="맑은 고딕"/>
              </a:defRPr>
            </a:pPr>
            <a:r>
              <a:t>• U3: 최저 전력 Suspend 상태 (소프트웨어 제어)</a:t>
            </a:r>
          </a:p>
          <a:p>
            <a:pPr>
              <a:spcAft>
                <a:spcPts val="1200"/>
              </a:spcAft>
              <a:defRPr sz="2000">
                <a:solidFill>
                  <a:srgbClr val="F8FAFC"/>
                </a:solidFill>
                <a:latin typeface="맑은 고딕"/>
              </a:defRPr>
            </a:pPr>
            <a:r>
              <a:t>• LFPS: 저전력 상태 복귀를 위한 웨이크업 시그널링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011680"/>
            <a:ext cx="3657600" cy="4114800"/>
          </a:xfrm>
          <a:prstGeom prst="roundRect">
            <a:avLst/>
          </a:prstGeom>
          <a:solidFill>
            <a:srgbClr val="191E2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182880" rIns="182880"/>
          <a:lstStyle/>
          <a:p>
            <a:pPr algn="ctr"/>
          </a:p>
          <a:p>
            <a:pPr>
              <a:spcAft>
                <a:spcPts val="1000"/>
              </a:spcAft>
              <a:defRPr b="1" sz="1200">
                <a:solidFill>
                  <a:srgbClr val="10B981"/>
                </a:solidFill>
              </a:defRPr>
            </a:pPr>
            <a:r>
              <a:t>TECHNICAL DEEP DIVE</a:t>
            </a:r>
          </a:p>
          <a:p>
            <a:pPr>
              <a:defRPr sz="1400">
                <a:solidFill>
                  <a:srgbClr val="F8FAFC"/>
                </a:solidFill>
                <a:latin typeface="맑은 고딕"/>
              </a:defRPr>
            </a:pPr>
            <a:r>
              <a:t>LFPS 신호의 진폭 및 듀티 사이클이 규격을 벗어날 경우 절전 모드에서 시스템이 깨어나지 못하는 'Hang' 현상의 주요 원인이 됨.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Samsung Electronics HW Engineering Team | USB 3.2 Rev 1.1 Technical Seminar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91440" cy="73152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8FAFC"/>
                </a:solidFill>
                <a:latin typeface="맑은 고딕"/>
              </a:defRPr>
            </a:pPr>
            <a:r>
              <a:t>HW Signal Integrity 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8FAFC"/>
                </a:solidFill>
                <a:latin typeface="맑은 고딕"/>
              </a:defRPr>
            </a:pPr>
            <a:r>
              <a:t>• Differential Impedance: 90Ω ~ 100Ω 엄격 매칭</a:t>
            </a:r>
          </a:p>
          <a:p>
            <a:pPr>
              <a:spcAft>
                <a:spcPts val="1200"/>
              </a:spcAft>
              <a:defRPr sz="2000">
                <a:solidFill>
                  <a:srgbClr val="F8FAFC"/>
                </a:solidFill>
                <a:latin typeface="맑은 고딕"/>
              </a:defRPr>
            </a:pPr>
            <a:r>
              <a:t>• Insertion Loss: 5GHz(Nyquist) 기준 6dB 미만 권장</a:t>
            </a:r>
          </a:p>
          <a:p>
            <a:pPr>
              <a:spcAft>
                <a:spcPts val="1200"/>
              </a:spcAft>
              <a:defRPr sz="2000">
                <a:solidFill>
                  <a:srgbClr val="F8FAFC"/>
                </a:solidFill>
                <a:latin typeface="맑은 고딕"/>
              </a:defRPr>
            </a:pPr>
            <a:r>
              <a:t>• Crosstalk 차단을 위한 TX-RX 간격 최적화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011680"/>
            <a:ext cx="3657600" cy="4114800"/>
          </a:xfrm>
          <a:prstGeom prst="roundRect">
            <a:avLst/>
          </a:prstGeom>
          <a:solidFill>
            <a:srgbClr val="191E2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182880" rIns="182880"/>
          <a:lstStyle/>
          <a:p>
            <a:pPr algn="ctr"/>
          </a:p>
          <a:p>
            <a:pPr>
              <a:spcAft>
                <a:spcPts val="1000"/>
              </a:spcAft>
              <a:defRPr b="1" sz="1200">
                <a:solidFill>
                  <a:srgbClr val="10B981"/>
                </a:solidFill>
              </a:defRPr>
            </a:pPr>
            <a:r>
              <a:t>TECHNICAL DEEP DIVE</a:t>
            </a:r>
          </a:p>
          <a:p>
            <a:pPr>
              <a:defRPr sz="1400">
                <a:solidFill>
                  <a:srgbClr val="F8FAFC"/>
                </a:solidFill>
                <a:latin typeface="맑은 고딕"/>
              </a:defRPr>
            </a:pPr>
            <a:r>
              <a:t>Via Stub 제거를 위한 Back-drilling 기법 및 신호 전환부의 GND Stitching Via 배치는 20Gbps 설계의 필수 검토 항목임.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Samsung Electronics HW Engineering Team | USB 3.2 Rev 1.1 Technical Seminar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91440" cy="73152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8FAFC"/>
                </a:solidFill>
                <a:latin typeface="맑은 고딕"/>
              </a:defRPr>
            </a:pPr>
            <a:r>
              <a:t>Final Implementation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8FAFC"/>
                </a:solidFill>
                <a:latin typeface="맑은 고딕"/>
              </a:defRPr>
            </a:pPr>
            <a:r>
              <a:t>• 20Gbps 인증 부품(PHY, Controller, Connector) 선정</a:t>
            </a:r>
          </a:p>
          <a:p>
            <a:pPr>
              <a:spcAft>
                <a:spcPts val="1200"/>
              </a:spcAft>
              <a:defRPr sz="2000">
                <a:solidFill>
                  <a:srgbClr val="F8FAFC"/>
                </a:solidFill>
                <a:latin typeface="맑은 고딕"/>
              </a:defRPr>
            </a:pPr>
            <a:r>
              <a:t>• Eye Diagram &amp; Jitter (Rj, Dj) 분석을 통한 SI 검증</a:t>
            </a:r>
          </a:p>
          <a:p>
            <a:pPr>
              <a:spcAft>
                <a:spcPts val="1200"/>
              </a:spcAft>
              <a:defRPr sz="2000">
                <a:solidFill>
                  <a:srgbClr val="F8FAFC"/>
                </a:solidFill>
                <a:latin typeface="맑은 고딕"/>
              </a:defRPr>
            </a:pPr>
            <a:r>
              <a:t>• 성공적인 삼성전자 차세대 제품 설계를 지원합니다.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011680"/>
            <a:ext cx="3657600" cy="4114800"/>
          </a:xfrm>
          <a:prstGeom prst="roundRect">
            <a:avLst/>
          </a:prstGeom>
          <a:solidFill>
            <a:srgbClr val="191E2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182880" rIns="182880"/>
          <a:lstStyle/>
          <a:p>
            <a:pPr algn="ctr"/>
          </a:p>
          <a:p>
            <a:pPr>
              <a:spcAft>
                <a:spcPts val="1000"/>
              </a:spcAft>
              <a:defRPr b="1" sz="1200">
                <a:solidFill>
                  <a:srgbClr val="10B981"/>
                </a:solidFill>
              </a:defRPr>
            </a:pPr>
            <a:r>
              <a:t>TECHNICAL DEEP DIVE</a:t>
            </a:r>
          </a:p>
          <a:p>
            <a:pPr>
              <a:defRPr sz="1400">
                <a:solidFill>
                  <a:srgbClr val="F8FAFC"/>
                </a:solidFill>
                <a:latin typeface="맑은 고딕"/>
              </a:defRPr>
            </a:pPr>
            <a:r>
              <a:t>본 자료의 상세 설계 수치는 USB 3.2 Rev 1.1 표준 사양을 근거로 하며, 실제 보드 환경에 따른 SI 시뮬레이션 결과가 우선함.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Samsung Electronics HW Engineering Team | USB 3.2 Rev 1.1 Technical Seminar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